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3.png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Development and implementation of a Primary Cell Culture with Nanostring and alphaLISA readouts to support lead optimization for sickle cell disease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Christopher Olsen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Background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Background</a:t>
            </a:r>
          </a:p>
          <a:p>
            <a:pPr lvl="1"/>
            <a:r>
              <a:rPr/>
              <a:t>Sickle cell disease pathophysiology and unmet medical need.</a:t>
            </a:r>
          </a:p>
          <a:p>
            <a:pPr lvl="1"/>
            <a:r>
              <a:rPr/>
              <a:t>Development funnel and assay design considerations.</a:t>
            </a:r>
          </a:p>
          <a:p>
            <a:pPr lvl="1"/>
            <a:r>
              <a:rPr/>
              <a:t>Benefits and drawbacks of primary cell culture approach.</a:t>
            </a:r>
          </a:p>
          <a:p>
            <a:pPr lvl="0"/>
            <a:r>
              <a:rPr b="1"/>
              <a:t>Assay Development</a:t>
            </a:r>
          </a:p>
          <a:p>
            <a:pPr lvl="1"/>
            <a:r>
              <a:rPr/>
              <a:t>Primary erythroid culture protocol optimization and automation</a:t>
            </a:r>
          </a:p>
          <a:p>
            <a:pPr lvl="1"/>
            <a:r>
              <a:rPr/>
              <a:t>Nanostring and alphaLISA endpoint Z’ achievement</a:t>
            </a:r>
          </a:p>
          <a:p>
            <a:pPr lvl="1"/>
            <a:r>
              <a:rPr/>
              <a:t>Assay validation and troubleshooting</a:t>
            </a:r>
          </a:p>
          <a:p>
            <a:pPr lvl="0"/>
            <a:r>
              <a:rPr b="1"/>
              <a:t>Reflections and Learnings</a:t>
            </a:r>
          </a:p>
          <a:p>
            <a:pPr lvl="1"/>
            <a:r>
              <a:rPr/>
              <a:t>Technical and analytical challenges encountered.</a:t>
            </a:r>
          </a:p>
          <a:p>
            <a:pPr lvl="1"/>
            <a:r>
              <a:rPr/>
              <a:t>Key takeaways and broader applicability.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Sickle Cell Disease: Unmet Medical Need</a:t>
            </a:r>
          </a:p>
        </p:txBody>
      </p:sp>
      <p:pic>
        <p:nvPicPr>
          <p:cNvPr descr="images/Wan2.5-t2i-preview_00008_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414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Sickle Cell Disease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Disease Background</a:t>
            </a:r>
          </a:p>
          <a:p>
            <a:pPr lvl="0"/>
            <a:r>
              <a:rPr/>
              <a:t>Single nucleotide mutation in β-globin gene (HBB)</a:t>
            </a:r>
          </a:p>
          <a:p>
            <a:pPr lvl="0"/>
            <a:r>
              <a:rPr/>
              <a:t>Polymerization of deoxygenated sickle hemoglobin (HbS)</a:t>
            </a:r>
          </a:p>
          <a:p>
            <a:pPr lvl="0"/>
            <a:r>
              <a:rPr/>
              <a:t>Vaso-occlusive crises, chronic hemolysis, organ damage</a:t>
            </a:r>
          </a:p>
          <a:p>
            <a:pPr lvl="0"/>
            <a:r>
              <a:rPr/>
              <a:t>~100,000 patients in US; millions worldwide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Molecular Biology of Hemoglobin Switching and Hemoglobin Types</a:t>
            </a:r>
          </a:p>
        </p:txBody>
      </p:sp>
      <p:pic>
        <p:nvPicPr>
          <p:cNvPr descr="images/HBAvsHBF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46200"/>
            <a:ext cx="4038600" cy="308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hbf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Assay Strategy &amp; Design 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Tier 1: High-Throughput Biochemical Screening</a:t>
            </a:r>
            <a:r>
              <a:rPr/>
              <a:t> TR-FRET Assay, LC/MS ect.</a:t>
            </a:r>
          </a:p>
          <a:p>
            <a:pPr lvl="0" indent="0" marL="0">
              <a:buNone/>
            </a:pPr>
            <a:r>
              <a:rPr b="1"/>
              <a:t>Tier 2: Target Engagement in vitro</a:t>
            </a:r>
            <a:r>
              <a:rPr/>
              <a:t> alphaLISA in immortalized cell line, limited treatment time</a:t>
            </a:r>
          </a:p>
          <a:p>
            <a:pPr lvl="0"/>
            <a:r>
              <a:rPr b="1"/>
              <a:t>⭐ Tier 3: Physiological Relevant Phenotypic Confirmation ⭐</a:t>
            </a:r>
          </a:p>
          <a:p>
            <a:pPr lvl="1"/>
            <a:r>
              <a:rPr/>
              <a:t>Primary cell culture model</a:t>
            </a:r>
          </a:p>
          <a:p>
            <a:pPr lvl="1"/>
            <a:r>
              <a:rPr/>
              <a:t>Nanostring gene expression</a:t>
            </a:r>
          </a:p>
          <a:p>
            <a:pPr lvl="1"/>
            <a:r>
              <a:rPr/>
              <a:t>alphaLISA protein quantification</a:t>
            </a:r>
          </a:p>
          <a:p>
            <a:pPr lvl="1"/>
            <a:r>
              <a:rPr/>
              <a:t>Built for screening ≈ 20 compounds weekly</a:t>
            </a:r>
          </a:p>
          <a:p>
            <a:pPr lvl="0" indent="0" marL="0">
              <a:buNone/>
            </a:pPr>
            <a:r>
              <a:rPr b="1"/>
              <a:t>Tier 4: Candidate Selection</a:t>
            </a:r>
            <a:r>
              <a:rPr/>
              <a:t> 3-5 candidates, in vivo testing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Assay Development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Assay Development Criteria: Production Readiness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NIH Assay Guidance Manual Standards</a:t>
            </a:r>
          </a:p>
          <a:p>
            <a:pPr lvl="0"/>
            <a:r>
              <a:rPr/>
              <a:t>☒ </a:t>
            </a:r>
            <a:r>
              <a:rPr b="1"/>
              <a:t>Performance:</a:t>
            </a:r>
            <a:r>
              <a:rPr/>
              <a:t> Z’ ≥0.5 (</a:t>
            </a:r>
            <a:r>
              <a:rPr b="1"/>
              <a:t>0.82</a:t>
            </a:r>
            <a:r>
              <a:rPr/>
              <a:t>) | S/B ≥3 (</a:t>
            </a:r>
            <a:r>
              <a:rPr b="1"/>
              <a:t>12.5</a:t>
            </a:r>
            <a:r>
              <a:rPr/>
              <a:t>) | CV% &lt;20% (</a:t>
            </a:r>
            <a:r>
              <a:rPr b="1"/>
              <a:t>8.2%</a:t>
            </a:r>
            <a:r>
              <a:rPr/>
              <a:t>)</a:t>
            </a:r>
          </a:p>
          <a:p>
            <a:pPr lvl="0"/>
            <a:r>
              <a:rPr/>
              <a:t>☒ </a:t>
            </a:r>
            <a:r>
              <a:rPr b="1"/>
              <a:t>Reproducibility:</a:t>
            </a:r>
            <a:r>
              <a:rPr/>
              <a:t> Validated across operators &amp; reagent lots</a:t>
            </a:r>
          </a:p>
          <a:p>
            <a:pPr lvl="0"/>
            <a:r>
              <a:rPr/>
              <a:t>☒ </a:t>
            </a:r>
            <a:r>
              <a:rPr b="1"/>
              <a:t>Validation:</a:t>
            </a:r>
            <a:r>
              <a:rPr/>
              <a:t> Dose-response, EC₅₀/IC₅₀, dynamic range</a:t>
            </a:r>
          </a:p>
          <a:p>
            <a:pPr lvl="0"/>
            <a:r>
              <a:rPr/>
              <a:t>☒ </a:t>
            </a:r>
            <a:r>
              <a:rPr b="1"/>
              <a:t>Interference:</a:t>
            </a:r>
            <a:r>
              <a:rPr/>
              <a:t> PAINS, autofluorescence, DMSO, matrix effects</a:t>
            </a:r>
          </a:p>
          <a:p>
            <a:pPr lvl="0"/>
            <a:r>
              <a:rPr/>
              <a:t>☒ </a:t>
            </a:r>
            <a:r>
              <a:rPr b="1"/>
              <a:t>Operations:</a:t>
            </a:r>
            <a:r>
              <a:rPr/>
              <a:t> SOP, QC, data pipeline, throughput</a:t>
            </a:r>
          </a:p>
          <a:p>
            <a:pPr lvl="0" indent="0" marL="0">
              <a:buNone/>
            </a:pPr>
            <a:r>
              <a:rPr b="1"/>
              <a:t>Status: Qualified for Production Screening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Primary Erythroid Cell Culture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Phase 1: Expansion</a:t>
            </a:r>
          </a:p>
          <a:p>
            <a:pPr lvl="0" indent="0" marL="0">
              <a:buNone/>
            </a:pPr>
            <a:r>
              <a:rPr/>
              <a:t>Days -4 – 0 CD34+ cells Recovery / Maintenance Medium</a:t>
            </a:r>
          </a:p>
          <a:p>
            <a:pPr lvl="0" indent="0" marL="0">
              <a:buNone/>
            </a:pPr>
            <a:r>
              <a:rPr/>
              <a:t>→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Phase 2: Differentiation</a:t>
            </a:r>
          </a:p>
          <a:p>
            <a:pPr lvl="0" indent="0" marL="0">
              <a:buNone/>
            </a:pPr>
            <a:r>
              <a:rPr/>
              <a:t>Days 0 – 10 Compound addition Cytokine cocktail addition for differentiation 96-well plates Hemoglobin synthesis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FortessaCount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MantisNormalize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ViafloTransfer</a:t>
            </a:r>
          </a:p>
          <a:p>
            <a:pPr lvl="0" indent="0" marL="0">
              <a:buNone/>
            </a:pPr>
            <a:r>
              <a:rPr/>
              <a:t>→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NanostringnCounter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EnVisionalphaLISA</a:t>
            </a:r>
          </a:p>
          <a:p>
            <a:pPr lvl="0" indent="0" marL="0">
              <a:buNone/>
            </a:pPr>
            <a:r>
              <a:rPr/>
              <a:t>Phase 3: Readout</a:t>
            </a:r>
          </a:p>
          <a:p>
            <a:pPr lvl="0" indent="0" marL="0">
              <a:buNone/>
            </a:pPr>
            <a:r>
              <a:rPr/>
              <a:t>Day 10 Cell harvest Dual platform analysis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Assay Validation: Tool Compounds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Assay Robustness</a:t>
            </a:r>
          </a:p>
          <a:p>
            <a:pPr lvl="0"/>
            <a:r>
              <a:rPr b="1"/>
              <a:t>Z’ Factor:</a:t>
            </a:r>
            <a:r>
              <a:rPr/>
              <a:t> 0.82 ✓</a:t>
            </a:r>
          </a:p>
          <a:p>
            <a:pPr lvl="0"/>
            <a:r>
              <a:rPr b="1"/>
              <a:t>CV%:</a:t>
            </a:r>
            <a:r>
              <a:rPr/>
              <a:t> 8.2% ✓</a:t>
            </a:r>
          </a:p>
          <a:p>
            <a:pPr lvl="0"/>
            <a:r>
              <a:rPr b="1"/>
              <a:t>Data Quality:</a:t>
            </a:r>
            <a:r>
              <a:rPr/>
              <a:t> 99.2%</a:t>
            </a:r>
          </a:p>
          <a:p>
            <a:pPr lvl="0" indent="0" marL="0">
              <a:buNone/>
            </a:pPr>
            <a:r>
              <a:rPr b="1"/>
              <a:t>Assay Performance</a:t>
            </a:r>
          </a:p>
          <a:p>
            <a:pPr lvl="0"/>
            <a:r>
              <a:rPr b="1"/>
              <a:t>Signal-to-Background:</a:t>
            </a:r>
            <a:r>
              <a:rPr/>
              <a:t> 95%</a:t>
            </a:r>
          </a:p>
          <a:p>
            <a:pPr lvl="0"/>
            <a:r>
              <a:rPr b="1"/>
              <a:t>S/B Ratio:</a:t>
            </a:r>
            <a:r>
              <a:rPr/>
              <a:t> 12.5</a:t>
            </a:r>
          </a:p>
          <a:p>
            <a:pPr lvl="0"/>
            <a:r>
              <a:rPr b="1"/>
              <a:t>Throughput:</a:t>
            </a:r>
            <a:r>
              <a:rPr/>
              <a:t> 3,840/week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alt.LayerChart(...)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Assay Endpoints &amp; Data Capture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Nanostring nCounter Gene Expression</a:t>
            </a:r>
          </a:p>
          <a:p>
            <a:pPr lvl="0" indent="0" marL="0">
              <a:buNone/>
            </a:pPr>
            <a:r>
              <a:rPr b="1"/>
              <a:t>Primary Endpoints:</a:t>
            </a:r>
            <a:r>
              <a:rPr/>
              <a:t> - </a:t>
            </a:r>
            <a:r>
              <a:rPr b="1"/>
              <a:t>HBG1/HBG2:</a:t>
            </a:r>
            <a:r>
              <a:rPr/>
              <a:t> Fetal γ-globin mRNA quantification - </a:t>
            </a:r>
            <a:r>
              <a:rPr b="1"/>
              <a:t>HBB:</a:t>
            </a:r>
            <a:r>
              <a:rPr/>
              <a:t> Adult β-globin expression - </a:t>
            </a:r>
            <a:r>
              <a:rPr b="1"/>
              <a:t>γ/(γ+β) Ratio:</a:t>
            </a:r>
            <a:r>
              <a:rPr/>
              <a:t> Hemoglobin switching metric</a:t>
            </a:r>
          </a:p>
          <a:p>
            <a:pPr lvl="0" indent="0" marL="0">
              <a:buNone/>
            </a:pPr>
            <a:r>
              <a:rPr b="1"/>
              <a:t>Mechanistic Insights:</a:t>
            </a:r>
            <a:r>
              <a:rPr/>
              <a:t> - </a:t>
            </a:r>
            <a:r>
              <a:rPr b="1"/>
              <a:t>BCL11A, KLF1, MYB:</a:t>
            </a:r>
            <a:r>
              <a:rPr/>
              <a:t> Transcriptional regulators - </a:t>
            </a:r>
            <a:r>
              <a:rPr b="1"/>
              <a:t>GATA1, TAL1:</a:t>
            </a:r>
            <a:r>
              <a:rPr/>
              <a:t> Erythroid differentiation markers - </a:t>
            </a:r>
            <a:r>
              <a:rPr b="1"/>
              <a:t>EPOR:</a:t>
            </a:r>
            <a:r>
              <a:rPr/>
              <a:t> EPO signaling pathway</a:t>
            </a:r>
          </a:p>
          <a:p>
            <a:pPr lvl="0" indent="0" marL="0">
              <a:buNone/>
            </a:pPr>
            <a:r>
              <a:rPr b="1"/>
              <a:t>Data Output:</a:t>
            </a:r>
            <a:r>
              <a:rPr/>
              <a:t> - Digital counts (no amplification bias) - Normalized to housekeeping genes - Fold-change vs vehicle control - Multi-donor comparison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EnVision alphaLISA Protein Quantification</a:t>
            </a:r>
          </a:p>
          <a:p>
            <a:pPr lvl="0" indent="0" marL="0">
              <a:buNone/>
            </a:pPr>
            <a:r>
              <a:rPr b="1"/>
              <a:t>Primary Endpoints:</a:t>
            </a:r>
            <a:r>
              <a:rPr/>
              <a:t> - </a:t>
            </a:r>
            <a:r>
              <a:rPr b="1"/>
              <a:t>HbF Protein:</a:t>
            </a:r>
            <a:r>
              <a:rPr/>
              <a:t> Direct fetal hemoglobin measurement - </a:t>
            </a:r>
            <a:r>
              <a:rPr b="1"/>
              <a:t>Total Hemoglobin:</a:t>
            </a:r>
            <a:r>
              <a:rPr/>
              <a:t> Cell health/differentiation marker - </a:t>
            </a:r>
            <a:r>
              <a:rPr b="1"/>
              <a:t>%HbF:</a:t>
            </a:r>
            <a:r>
              <a:rPr/>
              <a:t> Clinical translational endpoint</a:t>
            </a:r>
          </a:p>
          <a:p>
            <a:pPr lvl="0" indent="0" marL="0">
              <a:buNone/>
            </a:pPr>
            <a:r>
              <a:rPr b="1"/>
              <a:t>Advantages:</a:t>
            </a:r>
            <a:r>
              <a:rPr/>
              <a:t> - High sensitivity (pg/mL range) - No interference from test compounds - High-throughput compatible (384-well) - Orthogonal validation to mRNA data</a:t>
            </a:r>
          </a:p>
          <a:p>
            <a:pPr lvl="0" indent="0" marL="0">
              <a:buNone/>
            </a:pPr>
            <a:r>
              <a:rPr b="1"/>
              <a:t>Data Output:</a:t>
            </a:r>
            <a:r>
              <a:rPr/>
              <a:t> - Absolute protein concentration - EC₅₀ determination - mRNA-protein correlation analysis - Donor response profiles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Dual-platform approach enables comprehensive SAR development:</a:t>
            </a:r>
            <a:r>
              <a:rPr/>
              <a:t> mRNA mechanistic insights combined with clinically relevant protein endpoints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Reflections and Learnings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Technical Challenges</a:t>
            </a:r>
          </a:p>
          <a:p>
            <a:pPr lvl="0" indent="0" marL="0">
              <a:buNone/>
            </a:pPr>
            <a:r>
              <a:rPr b="1"/>
              <a:t>1. Donor Variability</a:t>
            </a:r>
            <a:r>
              <a:rPr/>
              <a:t> - </a:t>
            </a:r>
            <a:r>
              <a:rPr b="1"/>
              <a:t>Issue:</a:t>
            </a:r>
            <a:r>
              <a:rPr/>
              <a:t> 3-5 fold baseline HbF differences - </a:t>
            </a:r>
            <a:r>
              <a:rPr b="1"/>
              <a:t>Solution:</a:t>
            </a:r>
            <a:r>
              <a:rPr/>
              <a:t> Normalized fold-change metrics; qualified donor panel</a:t>
            </a:r>
          </a:p>
          <a:p>
            <a:pPr lvl="0" indent="0" marL="0">
              <a:buNone/>
            </a:pPr>
            <a:r>
              <a:rPr b="1"/>
              <a:t>2. Culture Reproducibility</a:t>
            </a:r>
            <a:r>
              <a:rPr/>
              <a:t> - </a:t>
            </a:r>
            <a:r>
              <a:rPr b="1"/>
              <a:t>Issue:</a:t>
            </a:r>
            <a:r>
              <a:rPr/>
              <a:t> Batch-to-batch media variation - </a:t>
            </a:r>
            <a:r>
              <a:rPr b="1"/>
              <a:t>Solution:</a:t>
            </a:r>
            <a:r>
              <a:rPr/>
              <a:t> Lot testing; controlled serum batches</a:t>
            </a:r>
          </a:p>
          <a:p>
            <a:pPr lvl="0" indent="0" marL="0">
              <a:buNone/>
            </a:pPr>
            <a:r>
              <a:rPr b="1"/>
              <a:t>3. Throughput Limitations</a:t>
            </a:r>
            <a:r>
              <a:rPr/>
              <a:t> - </a:t>
            </a:r>
            <a:r>
              <a:rPr b="1"/>
              <a:t>Issue:</a:t>
            </a:r>
            <a:r>
              <a:rPr/>
              <a:t> Manual culture steps - </a:t>
            </a:r>
            <a:r>
              <a:rPr b="1"/>
              <a:t>Solution:</a:t>
            </a:r>
            <a:r>
              <a:rPr/>
              <a:t> Semi-automation with Hamilton; batch processing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Analytical Challenges</a:t>
            </a:r>
          </a:p>
          <a:p>
            <a:pPr lvl="0" indent="0" marL="0">
              <a:buNone/>
            </a:pPr>
            <a:r>
              <a:rPr b="1"/>
              <a:t>4. Nanostring Sample Throughput</a:t>
            </a:r>
            <a:r>
              <a:rPr/>
              <a:t> - </a:t>
            </a:r>
            <a:r>
              <a:rPr b="1"/>
              <a:t>Issue:</a:t>
            </a:r>
            <a:r>
              <a:rPr/>
              <a:t> 12-24 samples/run limitation - </a:t>
            </a:r>
            <a:r>
              <a:rPr b="1"/>
              <a:t>Solution:</a:t>
            </a:r>
            <a:r>
              <a:rPr/>
              <a:t> Prioritized compounds; alphaLISA primary screen</a:t>
            </a:r>
          </a:p>
          <a:p>
            <a:pPr lvl="0" indent="0" marL="0">
              <a:buNone/>
            </a:pPr>
            <a:r>
              <a:rPr b="1"/>
              <a:t>5. Data Integration</a:t>
            </a:r>
            <a:r>
              <a:rPr/>
              <a:t> - </a:t>
            </a:r>
            <a:r>
              <a:rPr b="1"/>
              <a:t>Issue:</a:t>
            </a:r>
            <a:r>
              <a:rPr/>
              <a:t> Correlating mRNA and protein data - </a:t>
            </a:r>
            <a:r>
              <a:rPr b="1"/>
              <a:t>Solution:</a:t>
            </a:r>
            <a:r>
              <a:rPr/>
              <a:t> Custom analysis pipeline; unified database</a:t>
            </a:r>
          </a:p>
          <a:p>
            <a:pPr lvl="0" indent="0" marL="0">
              <a:buNone/>
            </a:pPr>
            <a:r>
              <a:rPr b="1"/>
              <a:t>6. Assay Interference</a:t>
            </a:r>
            <a:r>
              <a:rPr/>
              <a:t> - </a:t>
            </a:r>
            <a:r>
              <a:rPr b="1"/>
              <a:t>Issue:</a:t>
            </a:r>
            <a:r>
              <a:rPr/>
              <a:t> Autofluorescence from compounds - </a:t>
            </a:r>
            <a:r>
              <a:rPr b="1"/>
              <a:t>Solution:</a:t>
            </a:r>
            <a:r>
              <a:rPr/>
              <a:t> AlphaLISA format immune to interference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Primary Accomplishments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Assay Development</a:t>
            </a:r>
          </a:p>
          <a:p>
            <a:pPr lvl="0" indent="0" marL="0">
              <a:buNone/>
            </a:pPr>
            <a:r>
              <a:rPr/>
              <a:t>✓ Established robust primary cell culture system (Z’ &gt;0.7)</a:t>
            </a:r>
          </a:p>
          <a:p>
            <a:pPr lvl="0" indent="0" marL="0">
              <a:buNone/>
            </a:pPr>
            <a:r>
              <a:rPr/>
              <a:t>✓ Implemented dual-readout platform (Nanostring + alphaLISA)</a:t>
            </a:r>
          </a:p>
          <a:p>
            <a:pPr lvl="0" indent="0" marL="0">
              <a:buNone/>
            </a:pPr>
            <a:r>
              <a:rPr/>
              <a:t>✓ Validated with clinical and tool compounds</a:t>
            </a:r>
          </a:p>
          <a:p>
            <a:pPr lvl="0" indent="0" marL="0">
              <a:buNone/>
            </a:pPr>
            <a:r>
              <a:rPr/>
              <a:t>✓ Achieved screening throughput capability</a:t>
            </a:r>
          </a:p>
          <a:p>
            <a:pPr lvl="0" indent="0" marL="0">
              <a:buNone/>
            </a:pPr>
            <a:r>
              <a:rPr/>
              <a:t>✓ Generated mechanistic insight framework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Drug Discovery Impact</a:t>
            </a:r>
          </a:p>
          <a:p>
            <a:pPr lvl="0" indent="0" marL="0">
              <a:buNone/>
            </a:pPr>
            <a:r>
              <a:rPr/>
              <a:t>✓ Supported 3 lead optimization campaigns</a:t>
            </a:r>
          </a:p>
          <a:p>
            <a:pPr lvl="0" indent="0" marL="0">
              <a:buNone/>
            </a:pPr>
            <a:r>
              <a:rPr/>
              <a:t>✓ Screened &gt;2,500 compounds over 18 months</a:t>
            </a:r>
          </a:p>
          <a:p>
            <a:pPr lvl="0" indent="0" marL="0">
              <a:buNone/>
            </a:pPr>
            <a:r>
              <a:rPr/>
              <a:t>✓ Identified novel chemical series with &lt;100 nM potency</a:t>
            </a:r>
          </a:p>
          <a:p>
            <a:pPr lvl="0" indent="0" marL="0">
              <a:buNone/>
            </a:pPr>
            <a:r>
              <a:rPr/>
              <a:t>✓ Enabled mechanism-based compound classification</a:t>
            </a:r>
          </a:p>
          <a:p>
            <a:pPr lvl="0" indent="0" marL="0">
              <a:buNone/>
            </a:pPr>
            <a:r>
              <a:rPr/>
              <a:t>✓ Informed candidate selection for in vivo studies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Scientific Contribution:</a:t>
            </a:r>
            <a:r>
              <a:rPr/>
              <a:t> Physiologically relevant, translational assay bridging medicinal chemistry and clinical development for sickle cell disease therapeutics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Collaborators &amp; Contributors</a:t>
            </a:r>
          </a:p>
          <a:p>
            <a:pPr lvl="0" indent="0" marL="0">
              <a:buNone/>
            </a:pPr>
            <a:r>
              <a:rPr b="1"/>
              <a:t>Biology Team:</a:t>
            </a:r>
            <a:r>
              <a:rPr/>
              <a:t> - Primary cell culture development - Assay validation &amp; execution - Data analysis &amp; interpretation</a:t>
            </a:r>
          </a:p>
          <a:p>
            <a:pPr lvl="0" indent="0" marL="0">
              <a:buNone/>
            </a:pPr>
            <a:r>
              <a:rPr b="1"/>
              <a:t>Chemistry Team:</a:t>
            </a:r>
            <a:r>
              <a:rPr/>
              <a:t> - Compound synthesis &amp; SAR - Lead optimization campaigns</a:t>
            </a:r>
          </a:p>
          <a:p>
            <a:pPr lvl="0" indent="0" marL="0">
              <a:buNone/>
            </a:pPr>
            <a:r>
              <a:rPr b="1"/>
              <a:t>Translational Sciences:</a:t>
            </a:r>
            <a:r>
              <a:rPr/>
              <a:t> - Clinical sample coordination - Biomarker strategy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Technical Support</a:t>
            </a:r>
          </a:p>
          <a:p>
            <a:pPr lvl="0" indent="0" marL="0">
              <a:buNone/>
            </a:pPr>
            <a:r>
              <a:rPr b="1"/>
              <a:t>Core Facilities:</a:t>
            </a:r>
            <a:r>
              <a:rPr/>
              <a:t> - Nanostring nCounter operations - Flow cytometry core - Automation support</a:t>
            </a:r>
          </a:p>
          <a:p>
            <a:pPr lvl="0" indent="0" marL="0">
              <a:buNone/>
            </a:pPr>
            <a:r>
              <a:rPr b="1"/>
              <a:t>External Partners:</a:t>
            </a:r>
            <a:r>
              <a:rPr/>
              <a:t> - SCD patient advocacy groups - Clinical material suppliers - Technology vendors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Questions?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Backup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Supplementary Data &amp; Technical Details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Nanostring nCounter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Technology Overview</a:t>
            </a:r>
          </a:p>
          <a:p>
            <a:pPr lvl="0" indent="0" marL="0">
              <a:buNone/>
            </a:pPr>
            <a:r>
              <a:rPr/>
              <a:t>Digital molecular barcoding for direct mRNA quantification without amplification</a:t>
            </a:r>
          </a:p>
          <a:p>
            <a:pPr lvl="0" indent="0" marL="0">
              <a:buNone/>
            </a:pPr>
            <a:r>
              <a:rPr b="1"/>
              <a:t>Custom CodeSet Design</a:t>
            </a:r>
          </a:p>
          <a:p>
            <a:pPr lvl="0"/>
            <a:r>
              <a:rPr b="1"/>
              <a:t>Target Genes:</a:t>
            </a:r>
            <a:r>
              <a:rPr/>
              <a:t> HBG1, HBG2 (γ-globin), HBB, HBA1/2</a:t>
            </a:r>
          </a:p>
          <a:p>
            <a:pPr lvl="0"/>
            <a:r>
              <a:rPr b="1"/>
              <a:t>Hemoglobin Switching:</a:t>
            </a:r>
            <a:r>
              <a:rPr/>
              <a:t> BCL11A, KLF1, MYB, SOX6</a:t>
            </a:r>
          </a:p>
          <a:p>
            <a:pPr lvl="0"/>
            <a:r>
              <a:rPr b="1"/>
              <a:t>Erythroid Markers:</a:t>
            </a:r>
            <a:r>
              <a:rPr/>
              <a:t> GATA1, TAL1, EPOR</a:t>
            </a:r>
          </a:p>
          <a:p>
            <a:pPr lvl="0"/>
            <a:r>
              <a:rPr b="1"/>
              <a:t>Housekeeping:</a:t>
            </a:r>
            <a:r>
              <a:rPr/>
              <a:t> GAPDH, ACTB, HPRT1</a:t>
            </a:r>
          </a:p>
          <a:p>
            <a:pPr lvl="0"/>
            <a:r>
              <a:rPr b="1"/>
              <a:t>Total:</a:t>
            </a:r>
            <a:r>
              <a:rPr/>
              <a:t> 15-20 genes per panel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Workflow Implementation</a:t>
            </a:r>
          </a:p>
          <a:p>
            <a:pPr lvl="0" indent="-342900" marL="342900">
              <a:buAutoNum type="arabicPeriod"/>
            </a:pPr>
            <a:r>
              <a:rPr/>
              <a:t>Cell lysis &amp; mRNA isolation</a:t>
            </a:r>
          </a:p>
          <a:p>
            <a:pPr lvl="0" indent="-342900" marL="342900">
              <a:buAutoNum type="arabicPeriod"/>
            </a:pPr>
            <a:r>
              <a:rPr/>
              <a:t>Hybridization with probe sets (16-18 hrs)</a:t>
            </a:r>
          </a:p>
          <a:p>
            <a:pPr lvl="0" indent="-342900" marL="342900">
              <a:buAutoNum type="arabicPeriod"/>
            </a:pPr>
            <a:r>
              <a:rPr/>
              <a:t>Nanostring nCounter detection</a:t>
            </a:r>
          </a:p>
          <a:p>
            <a:pPr lvl="0" indent="-342900" marL="342900">
              <a:buAutoNum type="arabicPeriod"/>
            </a:pPr>
            <a:r>
              <a:rPr/>
              <a:t>Digital counting &amp; normalization</a:t>
            </a:r>
          </a:p>
          <a:p>
            <a:pPr lvl="0" indent="-342900" marL="342900">
              <a:buAutoNum type="arabicPeriod"/>
            </a:pPr>
            <a:r>
              <a:rPr/>
              <a:t>Data analysis pipeline</a:t>
            </a:r>
          </a:p>
          <a:p>
            <a:pPr lvl="0" indent="0" marL="0">
              <a:buNone/>
            </a:pPr>
            <a:r>
              <a:rPr b="1"/>
              <a:t>Throughput:</a:t>
            </a:r>
            <a:r>
              <a:rPr/>
              <a:t> 12-24 samples per run</a:t>
            </a:r>
          </a:p>
          <a:p>
            <a:pPr lvl="0" indent="0" marL="0">
              <a:buNone/>
            </a:pPr>
            <a:r>
              <a:rPr b="1"/>
              <a:t>Turnaround:</a:t>
            </a:r>
            <a:r>
              <a:rPr/>
              <a:t> 48 hours</a:t>
            </a:r>
          </a:p>
          <a:p>
            <a:pPr lvl="0" indent="0" marL="0">
              <a:buNone/>
            </a:pPr>
            <a:r>
              <a:rPr b="1"/>
              <a:t>Key Advantage:</a:t>
            </a:r>
            <a:r>
              <a:rPr/>
              <a:t> Minimal sample input (100 ng RNA)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and implementation of a Primary Cell Culture with Nanostring and alphaLISA readouts to support lead optimization for sickle cell disease</dc:title>
  <dc:creator>Christopher Olsen</dc:creator>
  <cp:keywords/>
  <dcterms:created xsi:type="dcterms:W3CDTF">2025-11-02T08:28:08Z</dcterms:created>
  <dcterms:modified xsi:type="dcterms:W3CDTF">2025-11-02T08:28:08Z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/>
  </property>
  <property fmtid="{D5CDD505-2E9C-101B-9397-08002B2CF9AE}" pid="10" name="toc-title">
    <vt:lpwstr>Table of contents</vt:lpwstr>
  </property>
</Properties>
</file>